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各位老师好，我是项目负责人韩宇。我们申报的是省级大学生创新创业训练计划项目，题目是《基于 Prompt 工程的上市公司财报解读与行业对标系统》。</a:t>
            </a:r>
          </a:p>
          <a:p>
            <a:r>
              <a:t>用一句话概括：我们做了一个能读懂财报的系统，它把“精确计算”和“智能解读”分开——所有数字由系统自己算，大模型只负责把数字讲成人话，所以报告里每一个数字都能溯源。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先看四个数字。左边两个是系统规模：一万两千多行代码、两千七百多条真实财报科目。右边两个是能力：十七个接口，以及实验里达到的数值引用准确率百分之九十九点八。</a:t>
            </a:r>
          </a:p>
          <a:p>
            <a:r>
              <a:t>这个项目要解决两个问题：第一，财报有专业门槛；第二，大模型会编数字。我们的路线是把算数和表达彻底分开——系统负责算得准，模型负责讲得清，校验器负责查得出。这是整个系统的设计主线，后面每一页都围绕它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这是系统架构，核心就一句话：双层解耦。</a:t>
            </a:r>
          </a:p>
          <a:p>
            <a:r>
              <a:t>上面是展示层，Vue 单页应用，六个页面；中间接口层，十七个 REST 接口；下面两个方块是真正的核心——左边数据计算层，右边智能解读层。</a:t>
            </a:r>
          </a:p>
          <a:p>
            <a:r>
              <a:t>关键设计是中间这个黄色箭头，也就是下面这条注释：两层之间只通过一份结构化的数据上下文 JSON 衔接。模型拿到的是一份已经算好的数据，它没有机会参与计算，所以就算想编数字也没有入口。这是我们防幻觉的第一个、也是最根本的设计。</a:t>
            </a:r>
          </a:p>
          <a:p>
            <a:r>
              <a:t>最下面是数据层，九张表，数据来自东方财富和新浪财经的公开接口。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这一页是系统真实界面截图，都是实际运行状态，数据是二十四家上市公司的真实财报。</a:t>
            </a:r>
          </a:p>
          <a:p>
            <a:r>
              <a:t>依次是系统概览、公司查询、财务画像、AI 解读、行业排行和智能筛选。</a:t>
            </a:r>
          </a:p>
          <a:p>
            <a:r>
              <a:t>这里我想强调一点：整套界面没有引入任何第三方 UI 组件库，而是我们自己定义了一套设计令牌——颜色、间距、圆角、阴影、字体全部变量化，六个页面共用同一套视觉规则。所以观感一致，换肤也只需要改一个文件。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界面好看是结果，这一页讲背后的工程考虑，五点。</a:t>
            </a:r>
          </a:p>
          <a:p>
            <a:r>
              <a:t>第一，设计令牌；第二，ECharts 按需引入，把图表包从七百多 K 降到六百三十八 K；第三，数值溯源可视化，这是我们最有特色的一点——报告里的数字用颜色区分能不能溯源，绿色可以直接信，黄色提示人工核对；第四，每个页面都做了骨架屏、空状态、错误重试三种状态；第五，指标释义气泡和 CSV 导出、打印，让分析结果可以带走。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这一页讲数据。我们没有用模拟数据，全部来自东方财富和新浪财经的公开接口：三个行业、二十四家公司、五个财年，两千七百多条报表科目，并且和公开年报逐项核对过，抽查误差为零。</a:t>
            </a:r>
          </a:p>
          <a:p>
            <a:r>
              <a:t>下面这块我想重点说，因为它是我们自己发现并修正的问题。原来 ROE 用所有者权益合计做分母，但分子是归母净利润——分子只算母公司股东的，分母却包含少数股东权益，口径不一致。改成归母权益之后测影响：ROE 平均高估零点七二个百分点，最大五点二个百分点，百分之十九的样本相对变化超过百分之五。</a:t>
            </a:r>
          </a:p>
          <a:p>
            <a:r>
              <a:t>这个量级会影响结论，所以我们不仅改了代码，还补了回归测试。这类问题不会报错、不会崩溃，只会安静地把结论带偏，所以我们把它作为研究过程的一部分公开说明。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指标这块我们做了十二项，覆盖六个维度：盈利、成长、风险、质量、每股和估值。</a:t>
            </a:r>
          </a:p>
          <a:p>
            <a:r>
              <a:t>右边是行业对标算法。这里有个细节值得说：方向感知。资产负债率、市盈率、市净率是越低越好，其他越高越好，如果不做方向调整，评分语义就乱了。我们把低优指标在算完百分位之后反转，统一成零到一百分越高越优，这样六个维度才能平均成综合评分。</a:t>
            </a:r>
          </a:p>
          <a:p>
            <a:r>
              <a:t>另外这些口径写死在计算引擎里，有一个重算接口可以一键复现全部对标结果，所以任何人都能验证我们的数字是怎么来的。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这是智能解读层。我们把提示词拆成三层：角色设定、数据注入、输出约束，前两层放进 system，第三层放进 user。</a:t>
            </a:r>
          </a:p>
          <a:p>
            <a:r>
              <a:t>三层各解决一个问题：角色解决“以什么身份、什么风格说”；数据注入解决“只能用什么数字”；输出约束解决“按什么结构说、不许做什么”。</a:t>
            </a:r>
          </a:p>
          <a:p>
            <a:r>
              <a:t>右边五个关键设计里，我想强调两个：一个是负例约束，我们不只说“要引用数据”，还明确说“禁止编造”；另一个是缺失声明，某个维度数据不够时要求模型明说“无法分析”，而不是硬编一个。这两条对抑制幻觉很关键。另外模板存在数据库里，带版本号，可以随时替换，不用改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这一页是核心创新点：数值溯源校验，也是防幻觉思路的闭环。</a:t>
            </a:r>
          </a:p>
          <a:p>
            <a:r>
              <a:t>流程五步：注入数据、生成报告、从报告里提取所有财务数字、回到注入数据里查找出处、最后量化成可溯源率。第五步还有纠偏：检出没法溯源的数字，会带修正指令重生成一次。</a:t>
            </a:r>
          </a:p>
          <a:p>
            <a:r>
              <a:t>为什么重要？它把“幻觉”从定性说法变成了可量化指标。有了这个指标，才能横向比较不同 Prompt 策略谁更好——下一页的实验就建立在这个指标上。而且用户能感知：界面绿色数字可以直接信，黄色提示人工核对。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实验设计这一页。六组策略：A 是基线，只有角色设定不注入数据；B 是角色加数据注入但没有约束；C 是完整三层模板，也就是系统默认。然后 C 再加三个变体，分别检验少样本、先复述、生成后校验器这三个技巧的边际效果。</a:t>
            </a:r>
          </a:p>
          <a:p>
            <a:r>
              <a:t>样本是三个行业各抽两家、两个财年，共十二个公司-年度，模型 deepseek-v4-flash，温度零点三，七十八次调用。</a:t>
            </a:r>
          </a:p>
          <a:p>
            <a:r>
              <a:t>统计用配对符号秩检验。这里要说明一个我们修正过的问题：早期脚本按列表位置配对，在一条样本缺失时造成十二对里九对错配，p 值是错的。后来改成按年度和公司匹配配对。另外我们用 scipy 精确分布算 p 值，十二个样本正好适用精确检验。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这是实验结果。最上面一行是基线：只有角色设定时准确率只有百分之十一点二，平均每份报告有将近十九个数字没法溯源——这就是大模型自由发挥的样子。</a:t>
            </a:r>
          </a:p>
          <a:p>
            <a:r>
              <a:t>注入数据之后跃升到百分之九十一点四，八十点三个百分点，p 值十万分之五，非常显著。加上输出约束再到百分之九十七点五。最后叠加生成后校验器，到百分之九十九点八，未溯源数字降到每份零点二个。</a:t>
            </a:r>
          </a:p>
          <a:p>
            <a:r>
              <a:t>这里我主动说一个负面结果：C+FS 少样本和 C+RP 先复述这两个改进都没有显著效果，p 值都大于零点三，我们如实报告了。这说明在这个任务上，堆提示技巧不如先把数据锚定做对。负面结果也是结果，而且它反过来说明我们的数据不是挑出来的。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创新点有三个层面。理念上，双层解耦从架构上切断了幻觉产生的路径；方法上，数值溯源把幻觉变成了可量化指标，而且用户能直接看到哪些数字需要核对；工程上，三层 Prompt 模板化加确定性降级，保证系统在任何环境下都可用。</a:t>
            </a:r>
          </a:p>
          <a:p>
            <a:r>
              <a:t>结题成果四块：软件著作权、一篇投给省级期刊的论文、一个可以现场演示的完整系统，以及一套带原生时间戳的逐次实验记录。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不足，我讲具体一点。四个主要限制：第一，实验样本只有十二个，每个行业两家公司，这是小样本案例研究，不能外推成行业规律；第二，只测了一个模型，原本想做的本地小模型对比因为实验机内存不够没跑完；第三，行业里只有八家公司，P25、P75 这些分位数的统计意义有限；第四，估值依赖收盘价和股本，数据源有脆弱性。</a:t>
            </a:r>
          </a:p>
          <a:p>
            <a:r>
              <a:t>后续工作相应地有五个方向，最优先的是把评测维度补全——现在只报了准确率和幻觉数两个客观指标，结构和结论正确率还需要人工标注。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这是团队分工。四个人分别对应系统的四个部分：我负责系统架构、指标计算引擎和行业对标算法；贾爱柯负责前端界面与交互设计；海宸负责数据采集与质量校验；崔德昊负责 Prompt 工程与对照实验。桂斌老师负责整体指导。</a:t>
            </a:r>
          </a:p>
          <a:p>
            <a:r>
              <a:t>需要说明的是，这一页的分工方案还需要和团队最终确认，并且要和软件著作权的著作权人、论文的作者顺序保持一致。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我的汇报到这里，谢谢各位老师。系统现在是可运行状态，如果老师有兴趣，我可以现场演示从公司查询到 AI 解读与数值溯源的完整流程。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620000"/>
            <a:ext cx="100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省级大学生创新创业训练计划 ·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2160000"/>
            <a:ext cx="10440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Prompt 工程的</a:t>
            </a:r>
          </a:p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上市公司财报解读与行业对标系统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4176000"/>
            <a:ext cx="2160000" cy="3048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4536000"/>
            <a:ext cx="10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精确计算 + 智能解读：让每个数字都可溯源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5544000"/>
            <a:ext cx="1044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汇报人：韩宇　　团队成员：贾爱柯、海宸、崔德昊　　指导教师：桂斌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淮阴师范学院　|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一页看懂这个项目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从痛点出发：普通投资者读不懂财报，通用大模型又会编数字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2736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188000"/>
            <a:ext cx="2736000" cy="4318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000" y="1475999"/>
            <a:ext cx="23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12,801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00" y="2124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行有效代码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000" y="2430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前后端完整系统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2800" y="1188000"/>
            <a:ext cx="2736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2800" y="1188000"/>
            <a:ext cx="2736000" cy="43180"/>
          </a:xfrm>
          <a:prstGeom prst="rect">
            <a:avLst/>
          </a:prstGeom>
          <a:solidFill>
            <a:srgbClr val="10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800" y="1475999"/>
            <a:ext cx="23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2,760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800" y="2124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条真实财报科目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800" y="2430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3 行业 × 24 家 × 5 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600" y="1188000"/>
            <a:ext cx="2736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9600" y="1188000"/>
            <a:ext cx="2736000" cy="43180"/>
          </a:xfrm>
          <a:prstGeom prst="rect">
            <a:avLst/>
          </a:prstGeom>
          <a:solidFill>
            <a:srgbClr val="7B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600" y="1475999"/>
            <a:ext cx="23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7B58D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600" y="2124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个 REST 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600" y="2430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9 张数据表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6400" y="1188000"/>
            <a:ext cx="2736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6400" y="1188000"/>
            <a:ext cx="2736000" cy="43180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4400" y="1475999"/>
            <a:ext cx="23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D98A10"/>
                </a:solidFill>
                <a:latin typeface="微软雅黑"/>
                <a:ea typeface="微软雅黑"/>
                <a:cs typeface="微软雅黑"/>
              </a:rPr>
              <a:t>99.8%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4400" y="2124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数值引用准确率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4400" y="2430000"/>
            <a:ext cx="23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优化后（基线 11.2%）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6000" y="3204000"/>
            <a:ext cx="11304000" cy="3204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000" y="3420000"/>
            <a:ext cx="10728000" cy="28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▍问题一：财报专业门槛高  </a:t>
            </a:r>
            <a:r>
              <a:rPr sz="13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三大报表数十个科目，行业对比更需要参照系，普通投资者难以独立判断。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▍问题二：大模型会“一本正经地编数字”  </a:t>
            </a:r>
            <a:r>
              <a:rPr sz="13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通用模型对训练数据之外的财务数据会产生幻觉，金融场景不可接受。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▍我们的路线：把“算数”和“表达”彻底分开  </a:t>
            </a:r>
            <a:r>
              <a:rPr sz="13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计算层保证数字可信，解读层只负责通俗表达，并对每个数字逐一校验。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▍一句话总结  </a:t>
            </a:r>
            <a:r>
              <a:rPr sz="13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系统负责“算得准”，模型负责“讲得清”，校验器负责“查得出”。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系统架构：双层解耦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算数与表达彻底分离——模型不参与任何数值计算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11304000" cy="720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26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展示层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512000"/>
            <a:ext cx="108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Vue 3.5 单页应用　·　六大页面：系统概览 / 公司查询 / 财务画像 / AI 解读 / 行业排行 / 智能筛选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000" y="2015999"/>
            <a:ext cx="11304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210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接口层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358000"/>
            <a:ext cx="108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Spring Boot 3.4　·　17 个 REST 接口　·　统一响应与错误码　·　CORS 与 Druid 连接池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2808000"/>
            <a:ext cx="5256000" cy="1908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2934000"/>
            <a:ext cx="48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数据计算层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3294000"/>
            <a:ext cx="4824000" cy="1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指标计算引擎：12 项标准化指标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行业对标统计：均值 / 中位数 / P25 / P75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方向感知评分与行业排名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估值快照：年末收盘价 × 当年股本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0" y="2808000"/>
            <a:ext cx="5220000" cy="1908000"/>
          </a:xfrm>
          <a:prstGeom prst="roundRect">
            <a:avLst>
              <a:gd name="adj" fmla="val 6000"/>
            </a:avLst>
          </a:prstGeom>
          <a:solidFill>
            <a:srgbClr val="1D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6000" y="2934000"/>
            <a:ext cx="478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智能解读层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00" y="3294000"/>
            <a:ext cx="4788000" cy="1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三层 Prompt 组装（角色 / 数据 / 约束）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大模型客户端（OpenAI 兼容 + mock 降级）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数值溯源校验器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报告与上下文全量留痕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86000" y="3456000"/>
            <a:ext cx="396000" cy="432000"/>
          </a:xfrm>
          <a:prstGeom prst="rightArrow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6000" y="4824000"/>
            <a:ext cx="11304000" cy="413999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4903200"/>
            <a:ext cx="11304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D98A10"/>
                </a:solidFill>
                <a:latin typeface="微软雅黑"/>
                <a:ea typeface="微软雅黑"/>
                <a:cs typeface="微软雅黑"/>
              </a:rPr>
              <a:t>两层之间仅通过一份结构化的「数据上下文 JSON」衔接：模型拿到的是已算好的数据，没有参与计算的入口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" y="5346000"/>
            <a:ext cx="11304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000" y="543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" y="5688000"/>
            <a:ext cx="108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MySQL 5.7　·　9 张表　·　真实公开数据源：东方财富数据中心（三大报表）+ 新浪财经（年末收盘价）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界面设计：六大页面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统一设计令牌驱动，无第三方 UI 组件库依赖——视觉是我们最直观的差异点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3576000" cy="21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0" y="1252800"/>
            <a:ext cx="3446400" cy="2057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000" y="3404275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系统概览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0000" y="1188000"/>
            <a:ext cx="3576000" cy="21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ist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00" y="1252800"/>
            <a:ext cx="3446400" cy="20578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60000" y="3404275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公司查询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000" y="1188000"/>
            <a:ext cx="3576000" cy="21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800" y="1252800"/>
            <a:ext cx="3446400" cy="20578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4000" y="3404275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财务画像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6000" y="4009075"/>
            <a:ext cx="3576000" cy="21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ai-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00" y="4073875"/>
            <a:ext cx="3446400" cy="2057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6000" y="6225350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AI 解读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0000" y="4009075"/>
            <a:ext cx="3576000" cy="21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-ran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00" y="4073875"/>
            <a:ext cx="3446400" cy="20578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60000" y="6225350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行业排行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000" y="3997500"/>
            <a:ext cx="3576000" cy="217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0-scree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800" y="4062300"/>
            <a:ext cx="3446400" cy="2046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4000" y="6202200"/>
            <a:ext cx="357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智能筛选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界面不只是好看：五个工程化细节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美观是结果，可维护和可用才是目的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11304000" cy="9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188000"/>
            <a:ext cx="50800" cy="9432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39200"/>
            <a:ext cx="2664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设计令牌体系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000" y="1339200"/>
            <a:ext cx="806399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颜色 / 间距 / 圆角 / 阴影 / 字体全部变量化，6 个页面 + 10 个通用组件只引用变量；支持紧凑模式与响应式，1440px 窄屏自动收敛。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2232000"/>
            <a:ext cx="11304000" cy="9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2232000"/>
            <a:ext cx="50800" cy="943200"/>
          </a:xfrm>
          <a:prstGeom prst="rect">
            <a:avLst/>
          </a:prstGeom>
          <a:solidFill>
            <a:srgbClr val="10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83200"/>
            <a:ext cx="2664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按需引入 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0" y="2383200"/>
            <a:ext cx="806399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只注册用到的图表与组件，vendor 包从 745KB 降到 638KB；配合手动分包与懒加载，首屏更轻。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000" y="3276000"/>
            <a:ext cx="11304000" cy="9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3276000"/>
            <a:ext cx="50800" cy="943200"/>
          </a:xfrm>
          <a:prstGeom prst="rect">
            <a:avLst/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427200"/>
            <a:ext cx="2664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8A10"/>
                </a:solidFill>
                <a:latin typeface="微软雅黑"/>
                <a:ea typeface="微软雅黑"/>
                <a:cs typeface="微软雅黑"/>
              </a:rPr>
              <a:t>数值溯源可视化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000" y="3427200"/>
            <a:ext cx="806399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AI 报告中的每个数字按能否溯源分别高亮：绿色为可溯源、黄色提示人工核对，并给出数值可溯源率。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4320000"/>
            <a:ext cx="11304000" cy="9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4320000"/>
            <a:ext cx="50800" cy="943200"/>
          </a:xfrm>
          <a:prstGeom prst="rect">
            <a:avLst/>
          </a:prstGeom>
          <a:solidFill>
            <a:srgbClr val="7B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000" y="4471200"/>
            <a:ext cx="2664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58D6"/>
                </a:solidFill>
                <a:latin typeface="微软雅黑"/>
                <a:ea typeface="微软雅黑"/>
                <a:cs typeface="微软雅黑"/>
              </a:rPr>
              <a:t>完整状态覆盖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000" y="4471200"/>
            <a:ext cx="806399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每个页面都有骨架屏、空状态、错误重试三态，不是只做“顺利情况”的演示界面。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000" y="5364000"/>
            <a:ext cx="11304000" cy="9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6000" y="5364000"/>
            <a:ext cx="50800" cy="943200"/>
          </a:xfrm>
          <a:prstGeom prst="rect">
            <a:avLst/>
          </a:prstGeom>
          <a:solidFill>
            <a:srgbClr val="1D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5515200"/>
            <a:ext cx="2664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数据可用性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000" y="5515200"/>
            <a:ext cx="806399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指标释义气泡（维度 / 单位 / 方向 / 公式）、对标与趋势 CSV 导出、报表打印存档，让分析结果能带走、能复核。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数据：真实、可核验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不做模拟数据——全部来自公开接口并与年报逐项核对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5472000" cy="23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314000"/>
            <a:ext cx="496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数据来源与规模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674000"/>
            <a:ext cx="4968000" cy="17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东方财富数据中心：利润表 / 资产负债表 / 现金流量表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新浪财经日 K 线：年末收盘价（不复权）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3 个行业 × 24 家上市公司 × 2021—2025 共 5 个财年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2,760 条报表科目 + 120 条估值快照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1,392 条标准化指标 + 174 条行业对标统计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8000" y="1188000"/>
            <a:ext cx="5112000" cy="2304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0" y="1314000"/>
            <a:ext cx="460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准确性校验：与公开年报逐项核对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1674000"/>
            <a:ext cx="4608000" cy="17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抽查结果全部一致，误差为 0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例：贵州茅台 2023 年营业收入 1,476.94 亿元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归母净利润 747.34 亿元、每股收益 59.49 元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毛利率 91.96%、ROE 36.18%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历史股本逐年核实（实收资本），确保 PE/PB 口径正确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3744000"/>
            <a:ext cx="11304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3870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科研过程中的一次自查：ROE / PB 分母口径修正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248000"/>
            <a:ext cx="10800000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▍发现：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原实现用“所有者权益合计”作分母，但分子是“归母净利润”，两者口径不一致（前者含少数股东权益）。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▍修正：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改为“归属于母公司股东的权益”，新增采集科目并在计算引擎中落地，同时补了回归测试防止回退。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▍影响：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ROE 平均高估 +0.72 个百分点，最大 +5.20 个百分点，19% 的样本相对变化超过 5%——这个量级不能忽略。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▍意义：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这类口径问题不会报错、不会崩溃，只会安静地把结论带偏；我们把它当作研究过程的一部分公开说明。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指标体系与行业对标口径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12 项指标 / 6 个维度，方向感知评分，口径固定可复现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6912000" cy="342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274400"/>
            <a:ext cx="16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8000" y="1274400"/>
            <a:ext cx="39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2000" y="1274400"/>
            <a:ext cx="13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530000"/>
            <a:ext cx="6912000" cy="69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7532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盈利能力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8000" y="17532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ROE · 毛利率 · 归母净利率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000" y="17532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越高越好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2224800"/>
            <a:ext cx="6912000" cy="6948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24480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成长性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8000" y="24480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营收增长率 · 归母净利增长率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000" y="244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越高越好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2919600"/>
            <a:ext cx="6912000" cy="69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1428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财务风险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8000" y="31428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资产负债率 · 流动比率 · 速动比率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2000" y="31428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负债率越低越好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3614400"/>
            <a:ext cx="6912000" cy="6948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38376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盈利质量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8000" y="38376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经营现金流 / 净利润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000" y="38376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越高越好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" y="4309200"/>
            <a:ext cx="6912000" cy="69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00" y="45324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每股指标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8000" y="45324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基本每股收益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000" y="45324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越高越好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000" y="5004000"/>
            <a:ext cx="6912000" cy="6948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227200"/>
            <a:ext cx="1475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估值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8000" y="5227200"/>
            <a:ext cx="367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市盈率 PE · 市净率 PB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2000" y="52272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越低越便宜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2000" y="1188000"/>
            <a:ext cx="4068000" cy="4662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3999" y="1314000"/>
            <a:ext cx="35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行业对标怎么算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3999" y="1728000"/>
            <a:ext cx="3564000" cy="38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▍样本：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同行业、同年度年报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▍统计量：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均值、中位数、P25、P75（线性插值）、总体标准差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▍百分位：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（严格小于该值的样本数）/（样本数-1）×100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▍方向调整：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低优指标（资产负债率 / PE / PB）反转后再评分，保证 0-100 分语义统一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▍排名：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高优指标值最大为第 1 名，低优反之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▍可复现：  </a:t>
            </a:r>
            <a:r>
              <a:rPr sz="11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口径写死在计算引擎，重算接口一键复现全部对标结果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智能解读层：三层 Prompt 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把提示词当工程对象管理——分层、存库、带版本、可替换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7056000" cy="13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188000"/>
            <a:ext cx="57150" cy="1386000"/>
          </a:xfrm>
          <a:prstGeom prst="rect">
            <a:avLst/>
          </a:prstGeom>
          <a:solidFill>
            <a:srgbClr val="1D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86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① 角色设定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6000" y="1404000"/>
            <a:ext cx="936000" cy="27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6000" y="1454400"/>
            <a:ext cx="9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800000"/>
            <a:ext cx="6552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限定身份与文风：资深 A 股财务分析师，客观、严谨、克制，不夸大、不唱多、不唱空，结论必须有数据支撑。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2700000"/>
            <a:ext cx="7056000" cy="13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000" y="2700000"/>
            <a:ext cx="57150" cy="1386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98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② 数据注入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6000" y="2916000"/>
            <a:ext cx="936000" cy="27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6000" y="2966400"/>
            <a:ext cx="9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3312000"/>
            <a:ext cx="6552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提供唯一事实来源：由计算层生成的指标 + 对标 JSON，并显式声明“这是本次分析唯一可信的数据来源”。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4212000"/>
            <a:ext cx="7056000" cy="13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4212000"/>
            <a:ext cx="57150" cy="1386000"/>
          </a:xfrm>
          <a:prstGeom prst="rect">
            <a:avLst/>
          </a:prstGeom>
          <a:solidFill>
            <a:srgbClr val="10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000" y="4410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③ 输出约束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6000" y="4428000"/>
            <a:ext cx="936000" cy="27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6000" y="4478400"/>
            <a:ext cx="9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" y="4824000"/>
            <a:ext cx="6552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约束结构与行为：固定六段结构、每章必须引用具体数值、禁止编造、数据缺失时显式声明“无法分析”。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6000" y="1188000"/>
            <a:ext cx="3924000" cy="4410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000" y="1314000"/>
            <a:ext cx="34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五个关键设计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000" y="1710000"/>
            <a:ext cx="3420000" cy="367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2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模板独立存库，带版本号与启用标记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2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正例 + 负例：既说“要做什么”，也说“不许做什么”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2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缺失声明：数据不足时明确说“无法分析”，而不是强行补全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2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输出固定六段结构，可程序化解析与校验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2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· 接口不可用时降级为确定性生成器，系统始终可用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防幻觉闭环：数值溯源校验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生成之后逐数字回溯比对——把幻觉变成可发现、可量化的问题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21096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188000"/>
            <a:ext cx="2109600" cy="306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999" y="1234800"/>
            <a:ext cx="18576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注入数据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999" y="1620000"/>
            <a:ext cx="1857601" cy="14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计算层输出的指标与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对标 JSON 作为唯一事实来源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7200" y="2088000"/>
            <a:ext cx="172800" cy="251999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21600" y="1188000"/>
            <a:ext cx="21096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1600" y="1188000"/>
            <a:ext cx="2109600" cy="306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7599" y="1234800"/>
            <a:ext cx="18576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生成报告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7599" y="1620000"/>
            <a:ext cx="1857601" cy="14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三层 Prompt 驱动大模型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输出六段结构解读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2800" y="2088000"/>
            <a:ext cx="172800" cy="251999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7200" y="1188000"/>
            <a:ext cx="21096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200" y="1188000"/>
            <a:ext cx="2109600" cy="306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199" y="1234800"/>
            <a:ext cx="18576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逐数提取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199" y="1620000"/>
            <a:ext cx="1857601" cy="14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从报告中提取所有财务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数字并识别所属指标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78400" y="2088000"/>
            <a:ext cx="172800" cy="251999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72800" y="1188000"/>
            <a:ext cx="21096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2800" y="1188000"/>
            <a:ext cx="2109600" cy="306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799" y="1234800"/>
            <a:ext cx="18576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回溯比对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799" y="1620000"/>
            <a:ext cx="1857601" cy="14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在注入数据中查找出处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判定可溯源 / 待核对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04000" y="2088000"/>
            <a:ext cx="172800" cy="251999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8400" y="1188000"/>
            <a:ext cx="21096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8400" y="1188000"/>
            <a:ext cx="2109600" cy="306000"/>
          </a:xfrm>
          <a:prstGeom prst="rect">
            <a:avLst/>
          </a:prstGeom>
          <a:solidFill>
            <a:srgbClr val="10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399" y="1234800"/>
            <a:ext cx="18576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量化与纠偏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4399" y="1620000"/>
            <a:ext cx="1857601" cy="14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给出数值可溯源率；未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溯源数字触发一次重生成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6000" y="3420000"/>
            <a:ext cx="11304000" cy="2988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000" y="354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为什么这一步重要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000" y="3941999"/>
            <a:ext cx="108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▍把“幻觉”从定性说法变成定量指标：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数值可溯源率、待核对数字个数可以横向比较不同 Prompt 策略的优劣。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▍用户可感知：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界面用绿色 / 黄色高亮区分可溯源与待核对数字，而不是把风险藏在黑盒里。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▍可审计：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每次生成连同注入上下文一并入库留痕，事后能复核模型是否使用了非注入数据。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▍可纠偏：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检出未溯源数字后自动携带修正指令重生成一次，实测把未溯源数字降到 0.2 个/份。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对照实验：设计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6 组 Prompt 策略 × 12 个公司-年度样本，配对检验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7056000" cy="24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314000"/>
            <a:ext cx="64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六组策略（C 的三种增强变体用于检验常见提示技巧的边际效果）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6380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6920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" y="16920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仅角色设定，不注入数据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000" y="16920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19476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0016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98A10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" y="20016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角色设定 + 数据注入，无约束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000" y="20016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分离数据注入的作用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22572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23112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" y="23112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完整三层模板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000" y="23112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系统默认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000" y="25668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26208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7B58D6"/>
                </a:solidFill>
                <a:latin typeface="微软雅黑"/>
                <a:ea typeface="微软雅黑"/>
                <a:cs typeface="微软雅黑"/>
              </a:rPr>
              <a:t>C+FS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" y="26208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 + 少样本范例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000" y="26208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检验 Few-shot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" y="28764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29304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7B58D6"/>
                </a:solidFill>
                <a:latin typeface="微软雅黑"/>
                <a:ea typeface="微软雅黑"/>
                <a:cs typeface="微软雅黑"/>
              </a:rPr>
              <a:t>C+RP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2000" y="29304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 + 先复述注入数据再分析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000" y="29304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检验复述策略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000" y="3186000"/>
            <a:ext cx="6480000" cy="29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3240000"/>
            <a:ext cx="9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C+V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2000" y="3240000"/>
            <a:ext cx="345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 + 生成后校验器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000" y="32400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检验纠偏闭环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2000" y="1188000"/>
            <a:ext cx="4068000" cy="2412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3999" y="1314000"/>
            <a:ext cx="35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样本与参数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3999" y="1692000"/>
            <a:ext cx="3564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3 个行业各抽 2 家 × 2 个财年 = n=12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模型 deepseek-v4-flash，temperature=0.3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各组注入上下文、问题文本、约束完全一致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78 次调用，50.9 万 token，26.8 分钟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判定口径：严格（所有数字须可溯源）+ 宽松（剔除叙述性整数）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6000" y="3780000"/>
            <a:ext cx="11304000" cy="262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000" y="390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统计方法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000" y="4302000"/>
            <a:ext cx="10800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▍配对方式：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按（年度, 公司）匹配配对，这是配对符号秩检验的前提；早期按列表位置配对曾造成 12 对中 9 对错配，已修正。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▍检验方法：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Wilcoxon 符号秩检验，α=0.05；用 scipy 精确分布计算 p 值（n=12 适用精确检验而非正态近似）。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▍同时报告：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效应量（平均增益 pp）与样本量限制，避免只报显著性。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6FD0"/>
                </a:solidFill>
                <a:latin typeface="微软雅黑"/>
                <a:ea typeface="微软雅黑"/>
                <a:cs typeface="微软雅黑"/>
              </a:rPr>
              <a:t>▍完整性检查：  </a:t>
            </a: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脚本自动校验各策略观测数是否一致，缺失会在报告中提示。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对照实验：结果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数据注入是最大杠杆，生成后校验器是有效的最后一道闸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11304000" cy="342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999" y="12816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5999" y="12816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严格口径准确率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999" y="1281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宽松口径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7999" y="1281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未溯源数字/份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9999" y="12816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相对 C 组增益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30000"/>
            <a:ext cx="1130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999" y="16596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 仅角色（无注入）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5999" y="16596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11.2 ± 5.9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5999" y="1659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7999" y="1659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18.8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9999" y="16596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−86.3 (p&lt;0.001)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2005200"/>
            <a:ext cx="11304000" cy="47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999" y="21348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B 角色 + 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5999" y="21348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91.4 ± 3.2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5999" y="21348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98.9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7999" y="21348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9999" y="21348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−6.1 (p=0.001)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2480400"/>
            <a:ext cx="1130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999" y="26100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 完整三层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5999" y="26100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97.5 ±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5999" y="2610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99.3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7999" y="2610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9999" y="26100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000" y="2955600"/>
            <a:ext cx="11304000" cy="4752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999" y="30852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C+FS 少样本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5999" y="30852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97.8 ± 1.3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65999" y="30852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99.9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7999" y="30852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9999" y="30852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+0.3（不显著）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6000" y="3430800"/>
            <a:ext cx="11304000" cy="47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999" y="35604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C+RP 先复述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5999" y="35604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95.4 ± 5.1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5999" y="35604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96.4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7999" y="35604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4.4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9999" y="35604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−2.1（不显著）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6000" y="3906000"/>
            <a:ext cx="11304000" cy="475200"/>
          </a:xfrm>
          <a:prstGeom prst="rect">
            <a:avLst/>
          </a:prstGeom>
          <a:solidFill>
            <a:srgbClr val="F0F5FD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999" y="4035600"/>
            <a:ext cx="30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C+V 生成后校验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5999" y="40356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99.8 ± 0.7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5999" y="4035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100.0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7999" y="40356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9999" y="4035600"/>
            <a:ext cx="2015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A05A"/>
                </a:solidFill>
                <a:latin typeface="微软雅黑"/>
                <a:ea typeface="微软雅黑"/>
                <a:cs typeface="微软雅黑"/>
              </a:rPr>
              <a:t>+2.3 (p=0.008)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6000" y="4482000"/>
            <a:ext cx="5472000" cy="192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000" y="4607999"/>
            <a:ext cx="496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四条结论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000" y="4985999"/>
            <a:ext cx="4968000" cy="13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数据注入是最大杠杆：11.2% → 91.4%（+80.3pp, p=0.0005）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输出约束进一步消除残余幻觉：→ 97.5%（p=0.001）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少样本与“先复述”无显著收益（p 均 &gt;0.3）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· 生成后校验器达 99.8%，未溯源数字降至 0.2 个/份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8000" y="4482000"/>
            <a:ext cx="5112000" cy="1925999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0000" y="4607999"/>
            <a:ext cx="460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我们想说的一点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40000" y="4968000"/>
            <a:ext cx="460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C+FS 与 C+RP 两组改进都没有显著效果，我们如实报告。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这说明在这个“数值锚定”任务上，堆叠提示技巧不如先把数据锚定做对；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负面结果同样是结果，它也反过来说明我们的数据不是挑选出来的。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创新点与成果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三层解耦保证可信，工程闭环保证可用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36252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188000"/>
            <a:ext cx="3625200" cy="3312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252800"/>
            <a:ext cx="326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理念创新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674000"/>
            <a:ext cx="32652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把“精确计算”与“智能解读”彻底解耦：模型不参与任何数值计算，只负责表达，从架构上切断幻觉产生的路径。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7200" y="1188000"/>
            <a:ext cx="36252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7200" y="1188000"/>
            <a:ext cx="3625200" cy="331200"/>
          </a:xfrm>
          <a:prstGeom prst="rect">
            <a:avLst/>
          </a:prstGeom>
          <a:solidFill>
            <a:srgbClr val="10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7200" y="1252800"/>
            <a:ext cx="326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7200" y="1674000"/>
            <a:ext cx="32652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数值溯源校验与可溯源率：把幻觉从定性描述变成可量化指标，并以绿 / 黄高亮让用户直接感知风险。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8400" y="1188000"/>
            <a:ext cx="36252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8400" y="1188000"/>
            <a:ext cx="3625200" cy="331200"/>
          </a:xfrm>
          <a:prstGeom prst="rect">
            <a:avLst/>
          </a:prstGeom>
          <a:solidFill>
            <a:srgbClr val="7B5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8400" y="1252800"/>
            <a:ext cx="326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400" y="1674000"/>
            <a:ext cx="32652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三层 Prompt 模板化 + 确定性降级：模板存库带版本可替换；接口不可用时自动降级，系统始终可用、输出始终可验证。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3564000"/>
            <a:ext cx="11304000" cy="2844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" y="3708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结题成果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4104000"/>
            <a:ext cx="26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软件著作权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4464000"/>
            <a:ext cx="262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源程序文档 60 页 + 软件说明书 18 页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申请材料已按登记规范备齐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000" y="4104000"/>
            <a:ext cx="26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学术论文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000" y="4464000"/>
            <a:ext cx="262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面向省级期刊投稿，含对照实验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与统计检验，数据已完成重跑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8000" y="4104000"/>
            <a:ext cx="26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可运行系统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8000" y="4464000"/>
            <a:ext cx="262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前后端完整实现，真实数据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可现场演示全部六大功能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0" y="4104000"/>
            <a:ext cx="26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实验记录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0" y="4464000"/>
            <a:ext cx="262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72 条逐次运行记录，含原生时间戳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 token 用量，可完整复核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不足与后续工作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把限制讲清楚，比把成绩讲满更重要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1188000"/>
            <a:ext cx="5472000" cy="50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314000"/>
            <a:ext cx="496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已知不足（如实说明）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728000"/>
            <a:ext cx="4968000" cy="4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▍样本量小：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实验为 n=12，每个行业仅 2 家，属小样本案例研究，结论不外推为行业规律。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▍单一模型：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实测仅覆盖一个云端模型；本地小模型因实验环境内存不足未跑完，不含跨模型对比。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▍行业样本少：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每个行业仅 8 家公司，P25 / P75 等分位数的统计意义有限。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▍数据源依赖：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估值依赖年末收盘价与当年股本，接口限流或股本披露缺失时需降级处理。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D93A44"/>
                </a:solidFill>
                <a:latin typeface="微软雅黑"/>
                <a:ea typeface="微软雅黑"/>
                <a:cs typeface="微软雅黑"/>
              </a:rPr>
              <a:t>▍输出不逐轮复现：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temperature&gt;0 时逐样本数值会变化，可复现的是策略间的相对关系与结论方向。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8000" y="1188000"/>
            <a:ext cx="5112000" cy="5004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0" y="1314000"/>
            <a:ext cx="460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后续工作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1728000"/>
            <a:ext cx="4608000" cy="4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▍补全评测维度：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补做结构合规率、关键结论正确率与语义质量人工评分。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▍扩大样本与模型：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增加公司与财年，并在更多模型上重复验证，特别是本地小模型的可用边界。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▍深化提示策略：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探索思维链、检索增强与多轮自检对解读深度的提升。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▍引入文本模态：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加入管理层讨论与分析、审计意见等文本，实现“数值 + 文本”融合分析。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15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▍扩展行业：  </a:t>
            </a:r>
            <a:r>
              <a:rPr sz="10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银行、地产等特殊报表结构行业需要扩展科目体系。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" y="342000"/>
            <a:ext cx="46800" cy="360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70000"/>
            <a:ext cx="7560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936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四人分工与系统模块一一对应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007999"/>
            <a:ext cx="11304000" cy="13970"/>
          </a:xfrm>
          <a:prstGeom prst="rect">
            <a:avLst/>
          </a:prstGeom>
          <a:solidFill>
            <a:srgbClr val="E1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098000"/>
            <a:ext cx="1130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98A10"/>
                </a:solidFill>
                <a:latin typeface="微软雅黑"/>
                <a:ea typeface="微软雅黑"/>
                <a:cs typeface="微软雅黑"/>
              </a:rPr>
              <a:t>说明：本页为分工建议方案，请按团队实际情况调整后再用于答辩，并与软件著作权、论文署名保持一致。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000" y="1440000"/>
            <a:ext cx="11304000" cy="360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540800"/>
            <a:ext cx="266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000" y="15408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负责模块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000" y="15408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800000"/>
            <a:ext cx="113040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951200"/>
            <a:ext cx="2448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韩宇（负责人）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1951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系统架构、指标计算引擎、行业对标算法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000" y="1951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后端核心代码、《技术文档》、论文第 3 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00" y="2664000"/>
            <a:ext cx="11304000" cy="8640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2815200"/>
            <a:ext cx="2448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贾爱柯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4000" y="2815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前端界面与交互、设计令牌体系、ECharts 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000" y="2815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六大页面与通用组件、《前端说明》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3528000"/>
            <a:ext cx="113040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3679200"/>
            <a:ext cx="2448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海宸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4000" y="3679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数据采集与质量校验、数据库设计、估值快照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000" y="3679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数据采集脚本、建表脚本、数据核验表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" y="4392000"/>
            <a:ext cx="11304000" cy="864000"/>
          </a:xfrm>
          <a:prstGeom prst="rect">
            <a:avLst/>
          </a:prstGeom>
          <a:solidFill>
            <a:srgbClr val="EEF2F7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543200"/>
            <a:ext cx="2448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5288"/>
                </a:solidFill>
                <a:latin typeface="微软雅黑"/>
                <a:ea typeface="微软雅黑"/>
                <a:cs typeface="微软雅黑"/>
              </a:rPr>
              <a:t>崔德昊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4000" y="4543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Prompt 工程与对照实验、数值溯源校验、实验统计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000" y="4543200"/>
            <a:ext cx="4104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三层 Prompt 模板、评测脚本、实验数据与论文第 5 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" y="5364000"/>
            <a:ext cx="11304000" cy="1044000"/>
          </a:xfrm>
          <a:prstGeom prst="roundRect">
            <a:avLst>
              <a:gd name="adj" fmla="val 6000"/>
            </a:avLst>
          </a:prstGeom>
          <a:solidFill>
            <a:srgbClr val="F0F5FD"/>
          </a:solidFill>
          <a:ln w="9525">
            <a:solidFill>
              <a:srgbClr val="8AB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000" y="5490000"/>
            <a:ext cx="10800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指导教师桂斌：选题指导、技术路线把关、论文修改与实验方案审定。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52637A"/>
                </a:solidFill>
                <a:latin typeface="微软雅黑"/>
                <a:ea typeface="微软雅黑"/>
                <a:cs typeface="微软雅黑"/>
              </a:rPr>
              <a:t>协作方式：前后端与文档统一仓库管理，按模块分工开发，实验数据与逐次运行记录全程留痕，可追溯每一次改动。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" y="6588000"/>
            <a:ext cx="79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2026 省级大学生创新创业训练计划 · 结题答辩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0000" y="6588000"/>
            <a:ext cx="28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872000"/>
            <a:ext cx="10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恳请各位老师批评指正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2808000"/>
            <a:ext cx="100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基于 Prompt 工程的上市公司财报解读与行业对标系统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3456000"/>
            <a:ext cx="2160000" cy="3048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816000"/>
            <a:ext cx="100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现场可演示：公司查询 → 财务画像 → 行业对标 → AI 解读 → 数值溯源 → 智能筛选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8AB4EC"/>
                </a:solidFill>
                <a:latin typeface="微软雅黑"/>
                <a:ea typeface="微软雅黑"/>
                <a:cs typeface="微软雅黑"/>
              </a:rPr>
              <a:t>系统当前处于可运行状态，数据为 24 家上市公司真实财报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5328000"/>
            <a:ext cx="100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